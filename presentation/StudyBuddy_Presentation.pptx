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Catastrophic</c:v>
                </c:pt>
                <c:pt idx="1">
                  <c:v>Major</c:v>
                </c:pt>
                <c:pt idx="2">
                  <c:v>Minor</c:v>
                </c:pt>
                <c:pt idx="3">
                  <c:v>Cosmetic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4748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63a7e7a-2b38-42a0-9dc3-8ec6c4196ff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600" b="1" i="0" u="none" strike="noStrike" kern="1200" baseline="0">
                    <a:solidFill>
                      <a:srgbClr val="1E293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Old build</c:v>
                </c:pt>
                <c:pt idx="1">
                  <c:v>Final build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56.3</c:v>
                </c:pt>
                <c:pt idx="1">
                  <c:v>79.9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E293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9fba32a-e310-4322-8f3c-bfb9e55ed1c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E2761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 panose="020F0502020204030204"/>
              </a:rPr>
              <a:t>Time to find &amp; join a group (sec)</a:t>
            </a:r>
            <a:endParaRPr sz="1300" b="0" i="0" u="none" strike="noStrike">
              <a:solidFill>
                <a:srgbClr val="1E2761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time (s)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600" b="1" i="0" u="none" strike="noStrike" kern="1200" baseline="0">
                    <a:solidFill>
                      <a:srgbClr val="1E293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Old UI</c:v>
                </c:pt>
                <c:pt idx="1">
                  <c:v>Final UI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60.4</c:v>
                </c:pt>
                <c:pt idx="1">
                  <c:v>41.3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E293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03c8fa3-1eae-488b-bc6b-ca95ebf48ea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time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 cmpd="sng" algn="ctr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7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5</c:v>
                </c:pt>
                <c:pt idx="12">
                  <c:v>3</c:v>
                </c:pt>
                <c:pt idx="13">
                  <c:v>6</c:v>
                </c:pt>
                <c:pt idx="14">
                  <c:v>4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42</c:v>
                </c:pt>
                <c:pt idx="1">
                  <c:v>38</c:v>
                </c:pt>
                <c:pt idx="2">
                  <c:v>51</c:v>
                </c:pt>
                <c:pt idx="3">
                  <c:v>35</c:v>
                </c:pt>
                <c:pt idx="4">
                  <c:v>47</c:v>
                </c:pt>
                <c:pt idx="5">
                  <c:v>40</c:v>
                </c:pt>
                <c:pt idx="6">
                  <c:v>33</c:v>
                </c:pt>
                <c:pt idx="7">
                  <c:v>45</c:v>
                </c:pt>
                <c:pt idx="8">
                  <c:v>39</c:v>
                </c:pt>
                <c:pt idx="9">
                  <c:v>44</c:v>
                </c:pt>
                <c:pt idx="10">
                  <c:v>36</c:v>
                </c:pt>
                <c:pt idx="11">
                  <c:v>41</c:v>
                </c:pt>
                <c:pt idx="12">
                  <c:v>48</c:v>
                </c:pt>
                <c:pt idx="13">
                  <c:v>37</c:v>
                </c:pt>
                <c:pt idx="14">
                  <c:v>43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FBFBF"/>
              </a:solidFill>
              <a:ln w="9525" cap="flat" cmpd="sng" algn="ctr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7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5</c:v>
                </c:pt>
                <c:pt idx="12">
                  <c:v>3</c:v>
                </c:pt>
                <c:pt idx="13">
                  <c:v>6</c:v>
                </c:pt>
                <c:pt idx="14">
                  <c:v>4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37.8779069767442</c:v>
                </c:pt>
                <c:pt idx="1">
                  <c:v>41.5087209302326</c:v>
                </c:pt>
                <c:pt idx="2">
                  <c:v>48.7703488372093</c:v>
                </c:pt>
                <c:pt idx="3">
                  <c:v>34.2470930232558</c:v>
                </c:pt>
                <c:pt idx="4">
                  <c:v>45.1395348837209</c:v>
                </c:pt>
                <c:pt idx="5">
                  <c:v>37.8779069767442</c:v>
                </c:pt>
                <c:pt idx="6">
                  <c:v>34.2470930232558</c:v>
                </c:pt>
                <c:pt idx="7">
                  <c:v>45.1395348837209</c:v>
                </c:pt>
                <c:pt idx="8">
                  <c:v>41.5087209302326</c:v>
                </c:pt>
                <c:pt idx="9">
                  <c:v>41.5087209302326</c:v>
                </c:pt>
                <c:pt idx="10">
                  <c:v>37.8779069767442</c:v>
                </c:pt>
                <c:pt idx="11">
                  <c:v>41.5087209302326</c:v>
                </c:pt>
                <c:pt idx="12">
                  <c:v>48.7703488372093</c:v>
                </c:pt>
                <c:pt idx="13">
                  <c:v>37.8779069767442</c:v>
                </c:pt>
                <c:pt idx="14">
                  <c:v>45.1395348837209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64748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 panose="020B0604020202020204"/>
                  </a:rPr>
                  <a:t>Tech comfort (1-7)</a:t>
                </a:r>
                <a:endParaRPr sz="1100" b="0" i="0" u="none" strike="noStrike">
                  <a:solidFill>
                    <a:srgbClr val="64748B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64748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 panose="020B0604020202020204"/>
                  </a:rPr>
                  <a:t>Task time (s)</a:t>
                </a:r>
                <a:endParaRPr sz="1100" b="0" i="0" u="none" strike="noStrike">
                  <a:solidFill>
                    <a:srgbClr val="64748B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64748B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05fcd614-06cc-46c4-9347-c256d2d53ea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1E293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Praise for dark mode</c:v>
                </c:pt>
                <c:pt idx="1">
                  <c:v>Faster / clearer flow</c:v>
                </c:pt>
                <c:pt idx="2">
                  <c:v>Wants onboarding</c:v>
                </c:pt>
                <c:pt idx="3">
                  <c:v>Notifications now reliable</c:v>
                </c:pt>
                <c:pt idx="4">
                  <c:v>Wants undo / confirm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12</c:v>
                </c:pt>
                <c:pt idx="2">
                  <c:v>8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E293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e81603d-6e77-456b-98fc-4a149a22dbb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2563EB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7C3AED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763905"/>
            <a:ext cx="9144000" cy="143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StudyBuddy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869440"/>
            <a:ext cx="9601200" cy="729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study partners - build study groups - track progress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78735"/>
            <a:ext cx="9144000" cy="1095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Human-Computer Interaction (HCI) Semester Project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Design, Implementation &amp; Usability Evaluation Findings</a:t>
            </a:r>
            <a:endParaRPr lang="en-US" sz="1500" dirty="0"/>
          </a:p>
        </p:txBody>
      </p:sp>
      <p:sp>
        <p:nvSpPr>
          <p:cNvPr id="7" name="Text Box 6"/>
          <p:cNvSpPr txBox="1"/>
          <p:nvPr/>
        </p:nvSpPr>
        <p:spPr>
          <a:xfrm>
            <a:off x="548005" y="3885565"/>
            <a:ext cx="7633970" cy="794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Group Members:</a:t>
            </a:r>
            <a:b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endParaRPr lang="en-US" sz="1600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038860" y="4373880"/>
            <a:ext cx="8153400" cy="1908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endParaRPr lang="en-US" sz="1600" b="1" dirty="0">
              <a:solidFill>
                <a:srgbClr val="FFFFFF"/>
              </a:solidFill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Areeba Fatima		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Umer Farooque Soomro 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Sameea Majeed		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Ambreen Naeem	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Sadaf Fatima		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85216" cy="58521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" y="1856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 &amp; users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56232"/>
            <a:ext cx="585216" cy="58521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6446520" y="185623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5544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analysis, design &amp; HCI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273552"/>
            <a:ext cx="585216" cy="585216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4" name="Text 12"/>
          <p:cNvSpPr/>
          <p:nvPr/>
        </p:nvSpPr>
        <p:spPr>
          <a:xfrm>
            <a:off x="822960" y="327355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97180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evaluation findings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273552"/>
            <a:ext cx="585216" cy="585216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6446520" y="327355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297180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testing &amp; SUS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690872"/>
            <a:ext cx="585216" cy="585216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22" name="Text 20"/>
          <p:cNvSpPr/>
          <p:nvPr/>
        </p:nvSpPr>
        <p:spPr>
          <a:xfrm>
            <a:off x="822960" y="469087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438912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analysis of results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690872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6446520" y="469087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438912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redesign &amp; impact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struggle to find compatible study partners.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Syllabi are unstructured; progress is invisible; deadlines slip.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tools are generic (chat / to-do), not study-centred.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apps were not built for the way students actually study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Auto-match students into study groups by subject / semester / skill.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a syllabus into weekly topics automatically.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completion %, weekly targets and a study streak.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tasks &amp; deadlines (weekly / monthly).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AND verify major HCI usability principles throughout.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Users &amp;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7088" y="1874520"/>
            <a:ext cx="914400" cy="9144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1847088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Aisha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Organised high-achiever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Wants efficiency, shortcuts and a clear progress overview.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14416" y="1874520"/>
            <a:ext cx="914400" cy="9144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5614416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98848" y="2926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Daniel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98848" y="3337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Struggling first-year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6008" y="38404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guidance, low cognitive load and gentle feedback.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3296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81744" y="1874520"/>
            <a:ext cx="914400" cy="9144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8" name="Text 16"/>
          <p:cNvSpPr/>
          <p:nvPr/>
        </p:nvSpPr>
        <p:spPr>
          <a:xfrm>
            <a:off x="9381744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66176" y="2926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Maria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3337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Part-time / working student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03336" y="3840480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flexible scheduling and forgiving deadlines.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2 - TASK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Hierarchical Task Analysis (HTA)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1554480"/>
            <a:ext cx="4873752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155448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Goal 0  -  Find &amp; join a study group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4476" y="2212848"/>
            <a:ext cx="0" cy="3108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523744"/>
            <a:ext cx="7498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523744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2523744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29800" y="2523744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61488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 Choose how to find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recommended on dashboard</a:t>
            </a:r>
            <a:endParaRPr lang="en-US" sz="125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open Find Groups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02836" y="2761488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2836" y="2761488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 Set match criteria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39996" y="365760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subject &amp; semester</a:t>
            </a:r>
            <a:endParaRPr lang="en-US" sz="125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skill level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761488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761488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 Review &amp; join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365760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match %</a:t>
            </a:r>
            <a:endParaRPr lang="en-US" sz="125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join request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 0  (the defining feature of HTA)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1, then 2, then 3. If a suitable open group appears during step 1, skip 2. Repeat steps 2-3 until a group is joined.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3 - COMPETITIVE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 Analysis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645920"/>
          <a:ext cx="11091672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1596542"/>
                <a:gridCol w="1596542"/>
                <a:gridCol w="1596542"/>
                <a:gridCol w="1596542"/>
                <a:gridCol w="159654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Capability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Quizlet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Discord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Classroom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StudyBuddy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Partner / group matching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Study groups + discussion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Syllabus -&gt; weekly topics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Progress % / study streak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Planner / deadlines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94A3B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Accessibility / dark mode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Student-focused &amp; free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Gap: no single tool offers syllabus-aware partner matching + progress tracking in one student-focused, free app - StudyBuddy's niche.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2179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study-group matching + join requests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groups: discussion board, group progress, admin tools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Syllabus breakdown -&gt; Week 1 / Topic A, Week 2 / Topic B ...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tracking: %, bars, weekly targets, study streak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Planner: tasks &amp; deadlines (weekly / monthly)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+ notifications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4005072" cy="4297680"/>
          </a:xfrm>
          <a:prstGeom prst="roundRect">
            <a:avLst>
              <a:gd name="adj" fmla="val 1826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3-Tier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63840" y="23774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8001000" y="2468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28163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+ Tailwind + Router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418320" y="314553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345643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8001000" y="35478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REST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3895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 + Blueprints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0" y="422452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535424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8001000" y="46268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1000" y="497433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SQLAlchemy ORM, 11 tables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 -  11 tables (3NF)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468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StudyGroups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GroupMembers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GroupJoinRequests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Syllabus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2468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DiscussionPosts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7548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Relationships: 1:N (User -&gt; Subjects), M:N (Users &lt;-&gt; Groups via GroupMembers), self-referencing DiscussionPosts for threaded replies.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85232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Actors &amp; key use cases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47688" y="2240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Actors:  </a:t>
            </a:r>
            <a:r>
              <a:rPr lang="en-US" sz="13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 -  Group Admin  -  System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47688" y="2743200"/>
            <a:ext cx="475488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/ manage profile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Find, match &amp; join a study group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&amp; administer a group (add/remove, accept/reject)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subject &amp; auto-generate weekly topics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topics complete &amp; track progress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tasks &amp; deadlines; receive notifications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4 - WIREFRAMING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Low-Fidelity Wireframes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1520" y="5626100"/>
            <a:ext cx="5120640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5633720"/>
            <a:ext cx="512064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Group page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050280"/>
            <a:ext cx="10972800" cy="539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Low-fidelity sketches define layout &amp; hierarchy before visual design - full set in the wireframes document.</a:t>
            </a:r>
            <a:endParaRPr lang="en-US" sz="1200" dirty="0"/>
          </a:p>
        </p:txBody>
      </p:sp>
      <p:pic>
        <p:nvPicPr>
          <p:cNvPr id="25" name="Picture 24" descr="ChatGPT Image Jun 17, 2026, 02_55_5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" y="1207135"/>
            <a:ext cx="5435600" cy="4410710"/>
          </a:xfrm>
          <a:prstGeom prst="rect">
            <a:avLst/>
          </a:prstGeom>
        </p:spPr>
      </p:pic>
      <p:pic>
        <p:nvPicPr>
          <p:cNvPr id="26" name="Picture 25" descr="ChatGPT Image Jun 17, 2026, 03_06_41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1230630"/>
            <a:ext cx="5693410" cy="42926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650865" y="1271270"/>
            <a:ext cx="189230" cy="15621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295900" y="1271270"/>
            <a:ext cx="210185" cy="156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5 - HIGH-FIDELITY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UI Design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Colour palette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822960" y="3081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31927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#2563EB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233172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2624328" y="3081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24328" y="331927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#7C3AED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233172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16A34A"/>
          </a:solidFill>
        </p:spPr>
      </p:sp>
      <p:sp>
        <p:nvSpPr>
          <p:cNvPr id="13" name="Text 11"/>
          <p:cNvSpPr/>
          <p:nvPr/>
        </p:nvSpPr>
        <p:spPr>
          <a:xfrm>
            <a:off x="4425696" y="3081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25696" y="331927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#16A34A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822960" y="44988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#D97706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24328" y="37490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DC2626"/>
          </a:solidFill>
        </p:spPr>
      </p:sp>
      <p:sp>
        <p:nvSpPr>
          <p:cNvPr id="19" name="Text 17"/>
          <p:cNvSpPr/>
          <p:nvPr/>
        </p:nvSpPr>
        <p:spPr>
          <a:xfrm>
            <a:off x="2624328" y="44988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24328" y="473659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#DC2626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25696" y="37490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1E293B"/>
          </a:solidFill>
        </p:spPr>
      </p:sp>
      <p:sp>
        <p:nvSpPr>
          <p:cNvPr id="22" name="Text 20"/>
          <p:cNvSpPr/>
          <p:nvPr/>
        </p:nvSpPr>
        <p:spPr>
          <a:xfrm>
            <a:off x="4425696" y="449884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25696" y="473659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#1E293B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645920"/>
            <a:ext cx="505663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Typography &amp; components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2331720"/>
            <a:ext cx="46177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 / system font, clear type scale (h1-h6, body, caption)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buttons, inputs, cards, modals, toasts, progress bars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Rounded-2xl glassy cards, gradient accents, soft shadows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&amp; dark themes (WCAG AA, colour-blind safe)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4846320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working React app is the high-fidelity prototype - real, interactive, themeable.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HCI Principles Applied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1463040" y="185623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Nielsen's 10 Heuristics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visibility, error prevention, consistency, recognition over recall, minimalist design 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7086600" y="185623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Shneiderman's 8 Golden Rules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64808" y="25146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Consistency, shortcuts, informative feedback, closure, reversible actions, user control 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4" name="Text 12"/>
          <p:cNvSpPr/>
          <p:nvPr/>
        </p:nvSpPr>
        <p:spPr>
          <a:xfrm>
            <a:off x="1463040" y="409651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75488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HTML + ARIA, full keyboard nav, focus rings, colour-blind safe, WCAG AA, dark mode.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133088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7086600" y="409651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UX Principles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64808" y="475488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User-centred design, simple navigation, clear feedback, low cognitive load, visual hierarchy.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7C3AED">
              <a:alpha val="2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&amp; FINDINGS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usable is StudyBuddy?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evaluation  -  usability testing  -  statistical analysis  -  content analysis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11680"/>
            <a:ext cx="777240" cy="77724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6" name="Text 4"/>
          <p:cNvSpPr/>
          <p:nvPr/>
        </p:nvSpPr>
        <p:spPr>
          <a:xfrm>
            <a:off x="146304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Heuristic Evaluation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Expert inspection vs Nielsen's 10 heuristics, scored 0-4 severity.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4136" y="17373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2011680"/>
            <a:ext cx="777240" cy="77724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1" name="Text 9"/>
          <p:cNvSpPr/>
          <p:nvPr/>
        </p:nvSpPr>
        <p:spPr>
          <a:xfrm>
            <a:off x="4288536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11296" y="29718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Usability Testing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2736" y="3749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Moderated, task-based testing with 5-8 students; 12 task scenarios.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17373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14032" y="2011680"/>
            <a:ext cx="777240" cy="77724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6" name="Text 14"/>
          <p:cNvSpPr/>
          <p:nvPr/>
        </p:nvSpPr>
        <p:spPr>
          <a:xfrm>
            <a:off x="7114032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36792" y="29718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Analysis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749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t-test, Mann-Whitney, Wilcoxon, correlation, chi-square on study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5128" y="17373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39528" y="2011680"/>
            <a:ext cx="777240" cy="7772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9939528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62288" y="29718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 Analysis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53728" y="3749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feedback coded into themes and frequencies (triangulation).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Severity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2542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59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Catastrophic (S4)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801368"/>
            <a:ext cx="2542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359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(S3)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801368"/>
            <a:ext cx="2542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359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(S2)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41080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41080" y="1801368"/>
            <a:ext cx="2542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4748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32520" y="2606040"/>
            <a:ext cx="2359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Cosmetic (S1)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383280"/>
          <a:ext cx="67665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98080" y="3383280"/>
            <a:ext cx="4142232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26680" y="3520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Verdict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26680" y="397764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blocking (catastrophic) issues.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Strongest: consistency, visibility, accessibility.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Weakest: help &amp; documentation (onboarding).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usability rated: GOOD.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Findings (Major)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1691640"/>
          <a:ext cx="11091672" cy="3968496"/>
        </p:xfrm>
        <a:graphic>
          <a:graphicData uri="http://schemas.openxmlformats.org/drawingml/2006/table">
            <a:tbl>
              <a:tblPr/>
              <a:tblGrid>
                <a:gridCol w="1005840"/>
                <a:gridCol w="5486400"/>
                <a:gridCol w="3136392"/>
                <a:gridCol w="14630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Heuristic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H4-1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Removing a group member fires with no confirmation dialog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Consistency / Error prevention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H5-1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Login has no client-side validation (blank fields hit API)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prevention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H3-1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undo for destructive actions (delete group/task/member)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control &amp; freedom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H9-1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React error boundary - a render error crashes the page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recovery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H1-1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'session expired' warning before 401 redirect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Visibility of 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H10-1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onboarding / help for first-time users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Help &amp; documentation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Major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finding is cited to a specific screen / component; full list and P0 fix plan in the report.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Study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1463040" y="1874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Participants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5-8 university students matching the personas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7086600" y="1874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64808" y="256032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Moderated, task-based testing + think-aloud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/>
        </p:nvSpPr>
        <p:spPr>
          <a:xfrm>
            <a:off x="1463040" y="397764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Scenarios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real tasks with success criteria &amp; time limits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8" name="Text 16"/>
          <p:cNvSpPr/>
          <p:nvPr/>
        </p:nvSpPr>
        <p:spPr>
          <a:xfrm>
            <a:off x="7086600" y="397764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Metrics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64808" y="466344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success rate, time on task, error rate, SUS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Usability Scale (SUS)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920240"/>
            <a:ext cx="4645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2029968"/>
            <a:ext cx="4645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+23.6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086600" y="2834640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 points gained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95160" y="3611880"/>
            <a:ext cx="4645152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0" y="37490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4160520"/>
            <a:ext cx="42062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Crossed from 'OK / marginal' to 'good' on the SUS adjective scale.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8 retested users improved (no regressions).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Wilcoxon signed-ranks: z = -2.52, p = .012 (significant).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Did the Redesign Work? (Difference Tests)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828800"/>
            <a:ext cx="4782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938528"/>
            <a:ext cx="478231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t(28) = 8.91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49440" y="2743200"/>
            <a:ext cx="45994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t-test  -  p &lt; .001  -  d = 3.25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34290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3538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 = 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949440" y="4343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Mann-Whitney  p &lt; .001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54312" y="34290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54312" y="353872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 = .012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445752" y="4343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Wilcoxon (SUS)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0" y="5074920"/>
            <a:ext cx="47823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~32% faster task completion - statistically significant AND a very large effect.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Correlation &amp; Categorical Findings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828800"/>
            <a:ext cx="46908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49440" y="1938528"/>
            <a:ext cx="46908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rho = -0.89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040880" y="2743200"/>
            <a:ext cx="45079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Comfort vs speed (Spearman)  -  p &lt; .001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3520440"/>
            <a:ext cx="4690872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3657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Chi-square findings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78040" y="4069080"/>
            <a:ext cx="42062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success depends on UI: 14/15 vs 8/15, chi2(1)=6.14, p=.013.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preference: Dark leads (11/20) but p=.086 - not significant.</a:t>
            </a:r>
            <a:endParaRPr lang="en-US" sz="13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we ship a toggle, not a forced theme.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 Analysis of Open Feedback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589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273552" cy="4297680"/>
          </a:xfrm>
          <a:prstGeom prst="roundRect">
            <a:avLst>
              <a:gd name="adj" fmla="val 2235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Triangulation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283464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 themes echo the quantitative results - speed, reliability and dark mode - and independently confirm the heuristic 'onboarding' and 'undo' gaps.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023360"/>
            <a:ext cx="3657600" cy="3657600"/>
          </a:xfrm>
          <a:prstGeom prst="ellipse">
            <a:avLst/>
          </a:prstGeom>
          <a:solidFill>
            <a:srgbClr val="16A34A">
              <a:alpha val="2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Redesign &amp; Impact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findings to a measurably better product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Feedback to Change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48640" y="1737360"/>
          <a:ext cx="11091672" cy="3840480"/>
        </p:xfrm>
        <a:graphic>
          <a:graphicData uri="http://schemas.openxmlformats.org/drawingml/2006/table">
            <a:tbl>
              <a:tblPr/>
              <a:tblGrid>
                <a:gridCol w="4206240"/>
                <a:gridCol w="5056632"/>
                <a:gridCol w="182880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Change made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Notifications never marked read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Call correct endpoint; bind to isRead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Planner checkboxes didn't persist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Bind completion to backend status field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Dashboard / progress showed empty data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camelCase&lt;-&gt;snake_case API bridge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UI felt flat; users wanted dark mode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Vibrant refresh + persistent light/dark toggle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confirm / undo / onboarding (heuristic)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Confirm dialogs, undo, help page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Backlog (P0)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21408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-32%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completion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2121408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56 -&gt; 80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07408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 usability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83296" y="2121408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8/15 -&gt; 14/15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74736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Syllabus task success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0233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headline improvement is statistically significant (p &lt; .05) AND a large effect.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data-flow defects fixed at their architectural root, not patched per screen.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Accessible dark/light theming shipped; remaining P0 items scoped for the next iteration.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713232" cy="7132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" name="Text 2"/>
          <p:cNvSpPr/>
          <p:nvPr/>
        </p:nvSpPr>
        <p:spPr>
          <a:xfrm>
            <a:off x="548640" y="178308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100584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 </a:t>
            </a: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working, study-focused web app - frontend, backend and database.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713232" cy="71323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548640" y="286207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862072"/>
            <a:ext cx="100584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Principled  </a:t>
            </a: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HCI principles applied AND verified, not merely claimed.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41064"/>
            <a:ext cx="713232" cy="7132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548640" y="3941064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3941064"/>
            <a:ext cx="100584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Proven  </a:t>
            </a: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Significant, large gains in speed, success rate and satisfaction.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713232" cy="71323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548640" y="5020056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5020056"/>
            <a:ext cx="100584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Accessible  </a:t>
            </a: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Responsive, keyboard-friendly, colour-blind safe, light &amp; dark.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ITERATION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tour + in-app help (top usability gap).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Undo + confirmation on all destructive actions.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notifications (WebSocket) &amp; calendar sync.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mobile apps and offline mode.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Larger-sample usability study to settle the theme-preference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24688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StudyBuddy  -  Human-Computer Interaction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8701</Words>
  <Application>WPS Presentation</Application>
  <PresentationFormat>On-screen Show (16:9)</PresentationFormat>
  <Paragraphs>649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Wingdings</vt:lpstr>
      <vt:lpstr>Microsoft YaHei</vt:lpstr>
      <vt:lpstr>Arial Unicode MS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- HCI Project &amp; Evaluation Findings</dc:title>
  <dc:creator>StudyBuddy Team</dc:creator>
  <dc:subject>PptxGenJS Presentation</dc:subject>
  <cp:lastModifiedBy>Ambreen_N_Khan</cp:lastModifiedBy>
  <cp:revision>6</cp:revision>
  <dcterms:created xsi:type="dcterms:W3CDTF">2026-06-14T13:41:00Z</dcterms:created>
  <dcterms:modified xsi:type="dcterms:W3CDTF">2026-07-20T10:33:49Z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42113CBBEBC347F5A9821EB28040BB06_13</vt:lpwstr>
  </property>
  <property fmtid="{D5CDD505-2E9C-101B-9397-08002B2CF9AE}" pid="3" name="KSOProductBuildVer">
    <vt:lpwstr>1033-12.1.0.27458</vt:lpwstr>
  </property>
</Properties>
</file>